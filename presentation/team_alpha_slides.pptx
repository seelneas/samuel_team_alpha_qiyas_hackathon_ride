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0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51999"/>
            <a:ext cx="1116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F8A"/>
                </a:solidFill>
              </a:defRPr>
            </a:pPr>
            <a:r>
              <a:t>The problem: how many rides, where, and when?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Forecast hourly trips in 12 Addis Ababa zones for 1–14 November 2025 (4,032 zone-hours)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80000"/>
            <a:ext cx="111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Addis Ride Demand Forecasting · TEAM ALPHA   |  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224000"/>
            <a:ext cx="111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600">
                <a:solidFill>
                  <a:srgbClr val="222222"/>
                </a:solidFill>
              </a:rPr>
              <a:t>• Why it matters: </a:t>
            </a:r>
            <a:r>
              <a:rPr sz="1600">
                <a:solidFill>
                  <a:srgbClr val="222222"/>
                </a:solidFill>
              </a:rPr>
              <a:t>drivers in the right zone at the right hour mean shorter waits and more completed trips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222222"/>
                </a:solidFill>
              </a:rPr>
              <a:t>• Trips</a:t>
            </a:r>
            <a:r>
              <a:rPr sz="1600">
                <a:solidFill>
                  <a:srgbClr val="222222"/>
                </a:solidFill>
              </a:rPr>
              <a:t> (85k rows, Jan–Oct): hourly requests per zone, plus fares, wait times and active drivers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– messy: 3 date formats, 55 spellings of 12 zones, −1 codes, duplicates, an outage, a zone launched in March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222222"/>
                </a:solidFill>
              </a:rPr>
              <a:t>• Weather</a:t>
            </a:r>
            <a:r>
              <a:rPr sz="1600">
                <a:solidFill>
                  <a:srgbClr val="222222"/>
                </a:solidFill>
              </a:rPr>
              <a:t> (hourly, observed + November forecast): temperature, rain, humidity, wind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– trap: recorded on UTC, not local time; −9999 rain codes; a July block in °F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222222"/>
                </a:solidFill>
              </a:rPr>
              <a:t>• Events</a:t>
            </a:r>
            <a:r>
              <a:rPr sz="1600">
                <a:solidFill>
                  <a:srgbClr val="222222"/>
                </a:solidFill>
              </a:rPr>
              <a:t> (165): football, concerts, conferences, road closures, holidays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– messy: multi-zone and city-wide entries, missing or reversed end times, free-text crowd sizes, cancellations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222222"/>
                </a:solidFill>
              </a:rPr>
              <a:t>• Our goal: </a:t>
            </a:r>
            <a:r>
              <a:rPr sz="1600">
                <a:solidFill>
                  <a:srgbClr val="222222"/>
                </a:solidFill>
              </a:rPr>
              <a:t>one clean zone × hour table that joins all three, then a model that uses only what is known 14 days ahead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0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51999"/>
            <a:ext cx="1116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F8A"/>
                </a:solidFill>
              </a:defRPr>
            </a:pPr>
            <a:r>
              <a:t>Cleaning &amp; integration: one clock, one zone key, one row per zone-hour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80000"/>
            <a:ext cx="111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Addis Ride Demand Forecasting · TEAM ALPHA   |  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5688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300">
                <a:solidFill>
                  <a:srgbClr val="222222"/>
                </a:solidFill>
              </a:rPr>
              <a:t>• The clock problem: </a:t>
            </a:r>
            <a:r>
              <a:rPr sz="1300">
                <a:solidFill>
                  <a:srgbClr val="222222"/>
                </a:solidFill>
              </a:rPr>
              <a:t>the weather file is on UTC. Raw temperature peaks at 12:00; after +3 h it peaks at 15:00 EAT, and rain–demand correlation jumps from 0.06 to 0.42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22222"/>
                </a:solidFill>
              </a:rPr>
              <a:t>• Join map: </a:t>
            </a:r>
            <a:r>
              <a:rPr sz="1300">
                <a:solidFill>
                  <a:srgbClr val="222222"/>
                </a:solidFill>
              </a:rPr>
              <a:t>zone-hour grid ← weather (many-to-one on the hour) ← events (interval join from 2 h before start to 2 h after end, per affected zone)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22222"/>
                </a:solidFill>
              </a:rPr>
              <a:t>• Key numbers (A4):</a:t>
            </a:r>
            <a:r>
              <a:rPr sz="1300">
                <a:solidFill>
                  <a:srgbClr val="222222"/>
                </a:solidFill>
              </a:rPr>
              <a:t/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</a:rPr>
              <a:t>– 38,574 timestamps parsed explicitly (no day/month swaps)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</a:rPr>
              <a:t>– 32,391 zone labels → 12 canonical zones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</a:rPr>
              <a:t>– 846 duplicates, 675 −1 codes, 123 impossible spikes removed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</a:rPr>
              <a:t>– 353 °F readings converted, 76 −9999 rain codes, 192 missing weather hours filled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</a:rPr>
              <a:t>– 42-hour city-wide outage and Ayat before launch excluded, not zero-filled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</a:rPr>
              <a:t>– Weather match 100%; joins never change row counts; 13/13 integrity checks pass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22222"/>
                </a:solidFill>
              </a:rPr>
              <a:t>• Result: </a:t>
            </a:r>
            <a:r>
              <a:rPr sz="1300">
                <a:solidFill>
                  <a:srgbClr val="222222"/>
                </a:solidFill>
              </a:rPr>
              <a:t>master_train has 82,979 zone-hours, master_test has 4,032</a:t>
            </a:r>
          </a:p>
        </p:txBody>
      </p:sp>
      <p:pic>
        <p:nvPicPr>
          <p:cNvPr id="6" name="Picture 5" descr="fig06_weather_timezone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000" y="1080000"/>
            <a:ext cx="5400747" cy="2376000"/>
          </a:xfrm>
          <a:prstGeom prst="rect">
            <a:avLst/>
          </a:prstGeom>
        </p:spPr>
      </p:pic>
      <p:pic>
        <p:nvPicPr>
          <p:cNvPr id="7" name="Picture 6" descr="fig01_gaps_and_missing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00" y="3600000"/>
            <a:ext cx="4128594" cy="280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0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51999"/>
            <a:ext cx="1116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F8A"/>
                </a:solidFill>
              </a:defRPr>
            </a:pPr>
            <a:r>
              <a:t>What the data says: rain and events move demand — but not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80000"/>
            <a:ext cx="111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Addis Ride Demand Forecasting · TEAM ALPHA   |   3/5</a:t>
            </a:r>
          </a:p>
        </p:txBody>
      </p:sp>
      <p:pic>
        <p:nvPicPr>
          <p:cNvPr id="5" name="Picture 4" descr="fig07_rain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5616000" cy="2878587"/>
          </a:xfrm>
          <a:prstGeom prst="rect">
            <a:avLst/>
          </a:prstGeom>
        </p:spPr>
      </p:pic>
      <p:pic>
        <p:nvPicPr>
          <p:cNvPr id="6" name="Picture 5" descr="fig08_event_stu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00" y="1007999"/>
            <a:ext cx="5616000" cy="2878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4824000"/>
            <a:ext cx="5616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300">
                <a:solidFill>
                  <a:srgbClr val="222222"/>
                </a:solidFill>
              </a:rPr>
              <a:t>• Rain: </a:t>
            </a:r>
            <a:r>
              <a:rPr sz="1300">
                <a:solidFill>
                  <a:srgbClr val="222222"/>
                </a:solidFill>
              </a:rPr>
              <a:t>+13% in light rain, +30% moderate, +46% heavy — sub-linear. But **Merkato falls ~21%**: an open-air market loses shoppers when it rains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2000" y="4824000"/>
            <a:ext cx="5616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300">
                <a:solidFill>
                  <a:srgbClr val="222222"/>
                </a:solidFill>
              </a:rPr>
              <a:t>• Events: </a:t>
            </a:r>
            <a:r>
              <a:rPr sz="1300">
                <a:solidFill>
                  <a:srgbClr val="222222"/>
                </a:solidFill>
              </a:rPr>
              <a:t>football lifts demand +75%, with the biggest surge in the **2 hours after the final whistle (+124%)**. Concerts +31%; road closures −24%. So event windows must extend past the end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0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51999"/>
            <a:ext cx="1116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F8A"/>
                </a:solidFill>
              </a:defRPr>
            </a:pPr>
            <a:r>
              <a:t>Modelling &amp; evaluation: beat the baseline, honestly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Chronological validation: train before 18 Oct, test on 18–31 Oct, plus 4 rolling 14-day folds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80000"/>
            <a:ext cx="111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Addis Ride Demand Forecasting · TEAM ALPHA   |   4/5</a:t>
            </a:r>
          </a:p>
        </p:txBody>
      </p:sp>
      <p:pic>
        <p:nvPicPr>
          <p:cNvPr id="5" name="Picture 4" descr="fig10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00" y="1224000"/>
            <a:ext cx="5616000" cy="296911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296000"/>
          <a:ext cx="5544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000"/>
                <a:gridCol w="1224000"/>
                <a:gridCol w="1224000"/>
              </a:tblGrid>
              <a:tr h="2880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MAE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Mean 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27.54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20.69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Seasonal-naive (zone×weekday×hour)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11.30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7.36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Ridge / 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11.29 / 10.31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7.55 / 6.76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LightGBM,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9.03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6.06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LightGBM optimised (final)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8.47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5.85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2000" y="3240000"/>
            <a:ext cx="5616000" cy="30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200">
                <a:solidFill>
                  <a:srgbClr val="222222"/>
                </a:solidFill>
              </a:rPr>
              <a:t>• Ablation: </a:t>
            </a:r>
            <a:r>
              <a:rPr sz="1200">
                <a:solidFill>
                  <a:srgbClr val="222222"/>
                </a:solidFill>
              </a:rPr>
              <a:t>calendar + lags 9.74 → + weather 9.21 → + events 9.64 → both **9.06**: both joins help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222222"/>
                </a:solidFill>
              </a:rPr>
              <a:t>• Rolling origin: </a:t>
            </a:r>
            <a:r>
              <a:rPr sz="1200">
                <a:solidFill>
                  <a:srgbClr val="222222"/>
                </a:solidFill>
              </a:rPr>
              <a:t>9.21 ± 0.71 vs 12.32 ± 1.83 for seasonal-naive, better in every fold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222222"/>
                </a:solidFill>
              </a:rPr>
              <a:t>• Leakage check: </a:t>
            </a:r>
            <a:r>
              <a:rPr sz="1200">
                <a:solidFill>
                  <a:srgbClr val="222222"/>
                </a:solidFill>
              </a:rPr>
              <a:t>adding active_drivers fakes an RMSE of 4.25, so it is excluded; only lags of 14 days or more are used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222222"/>
                </a:solidFill>
              </a:rPr>
              <a:t>• Optimisation: </a:t>
            </a:r>
            <a:r>
              <a:rPr sz="1200">
                <a:solidFill>
                  <a:srgbClr val="222222"/>
                </a:solidFill>
              </a:rPr>
              <a:t>Poisson loss, 2–5-week lags and an 8-week zone×weekday×hour profile take RMSE from 9.03 to 8.47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0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51999"/>
            <a:ext cx="1116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F8A"/>
                </a:solidFill>
              </a:defRPr>
            </a:pPr>
            <a:r>
              <a:t>Error analysis, final score 8.47 RMSE, demo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80000"/>
            <a:ext cx="111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Addis Ride Demand Forecasting · TEAM ALPHA   |   5/5</a:t>
            </a:r>
          </a:p>
        </p:txBody>
      </p:sp>
      <p:pic>
        <p:nvPicPr>
          <p:cNvPr id="5" name="Picture 4" descr="fig11_forecast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00" y="1007999"/>
            <a:ext cx="3717124" cy="29519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1007999"/>
            <a:ext cx="5616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300">
                <a:solidFill>
                  <a:srgbClr val="222222"/>
                </a:solidFill>
              </a:rPr>
              <a:t>• Final score: </a:t>
            </a:r>
            <a:r>
              <a:rPr sz="1300">
                <a:solidFill>
                  <a:srgbClr val="222222"/>
                </a:solidFill>
              </a:rPr>
              <a:t>RMSE 8.47, MAE 5.85 trips per zone-hour (≈17.5% of demand). That is 25% better than seasonal-naive and ≈ 4–5 drivers per zone-hour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22222"/>
                </a:solidFill>
              </a:rPr>
              <a:t>• Where it misses: </a:t>
            </a:r>
            <a:r>
              <a:rPr sz="1300">
                <a:solidFill>
                  <a:srgbClr val="222222"/>
                </a:solidFill>
              </a:rPr>
              <a:t>busy zones in absolute terms (Bole 11.0, Megenagna 10.9, Merkato 10.5 vs Ayat 5.9) but relative error is flat (17–20%); rush hours; the tallest post-event surges; one-off holidays (Meskel)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22222"/>
                </a:solidFill>
              </a:rPr>
              <a:t>• Demo: </a:t>
            </a:r>
            <a:r>
              <a:rPr sz="1300">
                <a:solidFill>
                  <a:srgbClr val="222222"/>
                </a:solidFill>
              </a:rPr>
              <a:t>pick a zone and a date → 24-h forecast, peak hour, drivers needed, expected fares, and the weather/events looked up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</a:rPr>
              <a:t>– run locally: streamlit run app/app.py   (live demo on our laptop)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22222"/>
                </a:solidFill>
              </a:rPr>
              <a:t>• Next: </a:t>
            </a:r>
            <a:r>
              <a:rPr sz="1300">
                <a:solidFill>
                  <a:srgbClr val="222222"/>
                </a:solidFill>
              </a:rPr>
              <a:t>holiday- and event-specific multipliers, quantile forecasts for staffing, training with noisy weather forecasts, weekly retraining and hosting</a:t>
            </a:r>
          </a:p>
        </p:txBody>
      </p:sp>
      <p:pic>
        <p:nvPicPr>
          <p:cNvPr id="7" name="Picture 6" descr="fig12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00" y="4031999"/>
            <a:ext cx="4285286" cy="237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